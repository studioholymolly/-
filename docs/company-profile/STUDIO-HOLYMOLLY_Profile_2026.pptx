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COMPANY PROFILE —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1091153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0" spc="300">
                <a:solidFill>
                  <a:srgbClr val="0A0A0A"/>
                </a:solidFill>
                <a:latin typeface="Jost"/>
                <a:ea typeface="Noto Sans KR"/>
                <a:cs typeface="Noto Sans KR"/>
              </a:rPr>
              <a:t>STUDIO.</a:t>
            </a:r>
          </a:p>
          <a:p>
            <a:pPr algn="l">
              <a:lnSpc>
                <a:spcPct val="102000"/>
              </a:lnSpc>
            </a:pPr>
            <a:r>
              <a:rPr sz="9200" b="0" spc="300">
                <a:solidFill>
                  <a:srgbClr val="0A0A0A"/>
                </a:solidFill>
                <a:latin typeface="Jost"/>
                <a:ea typeface="Noto Sans KR"/>
                <a:cs typeface="Noto Sans KR"/>
              </a:rPr>
              <a:t>HOLYMOLLY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브랜드가 보여지는 모든 장면을 만듭니다.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스튜디오 홀리몰리 — Visual Direction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spc="10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studioholymolly.myportfolio.com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컷 한 장을 찍는 일보다,</a:t>
            </a:r>
          </a:p>
          <a:p>
            <a:pPr algn="l">
              <a:lnSpc>
                <a:spcPct val="140000"/>
              </a:lnSpc>
            </a:pPr>
            <a:r>
              <a:rPr sz="30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그 컷이 브랜드 안에서 어떻게 보일지를</a:t>
            </a:r>
          </a:p>
          <a:p>
            <a:pPr algn="l">
              <a:lnSpc>
                <a:spcPct val="140000"/>
              </a:lnSpc>
            </a:pPr>
            <a:r>
              <a:rPr sz="30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먼저 생각합니다.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스튜디오 홀리몰리는 서울 역삼의 비주얼 디렉션 스튜디오입니다. 사진과 영상, 그리고 BX 디자인까지 — 하나의 무드로 이어지는 장면을 설계합니다.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질감이 전부인 카테고리에서</a:t>
            </a:r>
          </a:p>
          <a:p>
            <a:pPr algn="l">
              <a:lnSpc>
                <a:spcPct val="125000"/>
              </a:lnSpc>
            </a:pPr>
            <a:r>
              <a:rPr sz="24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시작했습니다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2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뷰티와 F&amp;B — 화면 속 질감이 곧 구매가 되는 카테고리에서 출발해, 제품 · 라이프스타일 · 패션 · 인물로 영역을 넓혀왔습니다.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2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촬영 전 기획 단계에서 무드와 톤을 함께 설계하고, 현장에서는 계획에 없던 장면도 그 자리에서 만들어냅니다. 그렇게 찍은 컷이 상세페이지가 되고, 캠페인이 되고, 브랜드의 얼굴이 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051560"/>
            <a:ext cx="5029200" cy="4937760"/>
          </a:xfrm>
          <a:prstGeom prst="rect">
            <a:avLst/>
          </a:prstGeom>
          <a:solidFill>
            <a:srgbClr val="F0F0EE"/>
          </a:solidFill>
          <a:ln w="9525">
            <a:solidFill>
              <a:srgbClr val="E5E5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051560"/>
            <a:ext cx="5029200" cy="4937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spc="2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IMAGE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A3A3A3"/>
                </a:solidFill>
                <a:latin typeface="Noto Sans KR"/>
                <a:ea typeface="Noto Sans KR"/>
                <a:cs typeface="Noto Sans KR"/>
              </a:rPr>
              <a:t>질감 클로즈업 컷으로 교체 (뷰티 제형 / F&amp;B 시즐)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911535" cy="177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227068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STUDIO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600" b="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스튜디오 홀리몰리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0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Visual Direction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2248" y="1828800"/>
            <a:ext cx="11430" cy="292608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23995" y="2194560"/>
            <a:ext cx="227068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FIELD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600" b="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Photo · Film · Branding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0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기획부터 촬영, 브랜드 경험 설계까지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132" y="1828800"/>
            <a:ext cx="11430" cy="292608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1879" y="2194560"/>
            <a:ext cx="227068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LOCATION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600" b="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서울 강남구 역삼동 783-2, B1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0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스튜디오 및 로케이션 촬영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18016" y="1828800"/>
            <a:ext cx="11430" cy="292608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9763" y="2194560"/>
            <a:ext cx="227068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CONTACT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600" b="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studio.holymolly@gmail.com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0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@studio_holymolly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754880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A3A3A3"/>
                </a:solidFill>
                <a:latin typeface="Noto Sans KR"/>
                <a:ea typeface="Noto Sans KR"/>
                <a:cs typeface="Noto Sans KR"/>
              </a:rPr>
              <a:t>* 누적 프로젝트 수 · 함께한 브랜드 수 등 실적 숫자는 확정되는 대로 이 페이지에 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이런 작업을 함께합니다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25856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뷰티 &amp; 제품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13432"/>
            <a:ext cx="53336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코스메틱의 제형과 컬러, 제품의 형태와 소재를 정교하게 담아냅니다. 스마트스토어 컷부터 브랜드 캠페인까지, 제품이 팔리게 하는 컷을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55848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3016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557016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F&amp;B &amp; 라이프스타일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11880"/>
            <a:ext cx="53336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시즐과 온도, 쓰는 장면과 먹는 순간. 제품이 놓일 실제 삶의 장면을 만들어 브랜드에 생활의 온도를 더합니다.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54296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928616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855464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패션 &amp; 인물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910328"/>
            <a:ext cx="53336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시즌 룩북과 커머스 화보, 그리고 브랜드를 이끄는 사람들. 브랜드의 결을 인물과 착장으로 옮깁니다.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952744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SERVICES — CONT.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이런 작업을 함께합니다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25856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영상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13432"/>
            <a:ext cx="53336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브랜드 필름, 커머스 영상, 소셜 콘텐츠. 사진과 같은 무드를 무빙으로 확장해 채널 전체의 톤을 맞춥니다.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55848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3016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557016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BX 디자인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11880"/>
            <a:ext cx="53336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촬영을 넘어 브랜드 경험을 설계합니다. 비주얼 아이덴티티부터 콘텐츠 시스템까지, 장면이 브랜드가 되도록.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54296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사진 · 영상 · 디자인을 한 팀이 진행하면, 채널 전체가 하나의 무드로 이어집니다.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8A8A8A"/>
                </a:solidFill>
                <a:latin typeface="Jost"/>
                <a:ea typeface="Noto Sans KR"/>
                <a:cs typeface="Noto Sans KR"/>
              </a:rPr>
              <a:t>SELECTED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AFAF8"/>
                </a:solidFill>
                <a:latin typeface="Noto Sans KR"/>
                <a:ea typeface="Noto Sans KR"/>
                <a:cs typeface="Noto Sans KR"/>
              </a:rPr>
              <a:t>말보다 컷이 빠릅니다.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AFAF8"/>
                </a:solidFill>
                <a:latin typeface="Noto Sans KR"/>
                <a:ea typeface="Noto Sans KR"/>
                <a:cs typeface="Noto Sans KR"/>
              </a:rPr>
              <a:t>작업물은 여기서 보세요.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909090"/>
                </a:solidFill>
                <a:latin typeface="Noto Sans KR"/>
                <a:ea typeface="Noto Sans KR"/>
                <a:cs typeface="Noto Sans KR"/>
              </a:rPr>
              <a:t>카테고리별 작업물과 최근 프로젝트는 포트폴리오 사이트와 SNS 채널에 계속 업데이트하고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343400"/>
            <a:ext cx="10911535" cy="11430"/>
          </a:xfrm>
          <a:prstGeom prst="rect">
            <a:avLst/>
          </a:prstGeom>
          <a:solidFill>
            <a:srgbClr val="2E2E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327141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0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01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FAFAF8"/>
                </a:solidFill>
                <a:latin typeface="Jost"/>
                <a:ea typeface="Noto Sans KR"/>
                <a:cs typeface="Noto Sans KR"/>
              </a:rPr>
              <a:t>Portfolio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000" b="0">
                <a:solidFill>
                  <a:srgbClr val="909090"/>
                </a:solidFill>
                <a:latin typeface="Noto Sans KR"/>
                <a:ea typeface="Noto Sans KR"/>
                <a:cs typeface="Noto Sans KR"/>
              </a:rPr>
              <a:t>studioholymolly.myportfolio.com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7258" y="4709160"/>
            <a:ext cx="327141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0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02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FAFAF8"/>
                </a:solidFill>
                <a:latin typeface="Jost"/>
                <a:ea typeface="Noto Sans KR"/>
                <a:cs typeface="Noto Sans KR"/>
              </a:rPr>
              <a:t>Instagram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000" b="0">
                <a:solidFill>
                  <a:srgbClr val="909090"/>
                </a:solidFill>
                <a:latin typeface="Noto Sans KR"/>
                <a:ea typeface="Noto Sans KR"/>
                <a:cs typeface="Noto Sans KR"/>
              </a:rPr>
              <a:t>@studio_holymolly — 최근 작업과 현장 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14436" y="4709160"/>
            <a:ext cx="327141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0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03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FAFAF8"/>
                </a:solidFill>
                <a:latin typeface="Jost"/>
                <a:ea typeface="Noto Sans KR"/>
                <a:cs typeface="Noto Sans KR"/>
              </a:rPr>
              <a:t>Threads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000" b="0">
                <a:solidFill>
                  <a:srgbClr val="909090"/>
                </a:solidFill>
                <a:latin typeface="Noto Sans KR"/>
                <a:ea typeface="Noto Sans KR"/>
                <a:cs typeface="Noto Sans KR"/>
              </a:rPr>
              <a:t>@studio_holymolly — 보정 전 원본 컷까지 공개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SELECTED WORKS — CASE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6858000" cy="4937760"/>
          </a:xfrm>
          <a:prstGeom prst="rect">
            <a:avLst/>
          </a:prstGeom>
          <a:solidFill>
            <a:srgbClr val="F0F0EE"/>
          </a:solidFill>
          <a:ln w="9525">
            <a:solidFill>
              <a:srgbClr val="E5E5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6858000" cy="4937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spc="2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IMAGE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A3A3A3"/>
                </a:solidFill>
                <a:latin typeface="Noto Sans KR"/>
                <a:ea typeface="Noto Sans KR"/>
                <a:cs typeface="Noto Sans KR"/>
              </a:rPr>
              <a:t>뷰티 대표 컷으로 교체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188720"/>
            <a:ext cx="368777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[클라이언트/브랜드명]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[프로젝트명]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2514600"/>
            <a:ext cx="368777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743200"/>
            <a:ext cx="368777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SCOPE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기획 · 촬영 · 리터칭 (해당 항목만 남기기)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800" b="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/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SUMMARY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[한 줄 요약 — 무엇을 해결했는지. 예: 신제품 론칭 상세페이지 전체 비주얼]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SELECTED WORKS — CASE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6858000" cy="4937760"/>
          </a:xfrm>
          <a:prstGeom prst="rect">
            <a:avLst/>
          </a:prstGeom>
          <a:solidFill>
            <a:srgbClr val="F0F0EE"/>
          </a:solidFill>
          <a:ln w="9525">
            <a:solidFill>
              <a:srgbClr val="E5E5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6858000" cy="4937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spc="2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IMAGE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A3A3A3"/>
                </a:solidFill>
                <a:latin typeface="Noto Sans KR"/>
                <a:ea typeface="Noto Sans KR"/>
                <a:cs typeface="Noto Sans KR"/>
              </a:rPr>
              <a:t>제품/커머스 대표 컷으로 교체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188720"/>
            <a:ext cx="368777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[클라이언트/브랜드명]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[프로젝트명]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2514600"/>
            <a:ext cx="368777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743200"/>
            <a:ext cx="368777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SCOPE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기획 · 촬영 · 리터칭 (해당 항목만 남기기)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800" b="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/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SUMMARY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[한 줄 요약 — 무엇을 해결했는지. 예: 신제품 론칭 상세페이지 전체 비주얼]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SELECTED WORKS — CASE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6858000" cy="4937760"/>
          </a:xfrm>
          <a:prstGeom prst="rect">
            <a:avLst/>
          </a:prstGeom>
          <a:solidFill>
            <a:srgbClr val="F0F0EE"/>
          </a:solidFill>
          <a:ln w="9525">
            <a:solidFill>
              <a:srgbClr val="E5E5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6858000" cy="4937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spc="2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IMAGE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A3A3A3"/>
                </a:solidFill>
                <a:latin typeface="Noto Sans KR"/>
                <a:ea typeface="Noto Sans KR"/>
                <a:cs typeface="Noto Sans KR"/>
              </a:rPr>
              <a:t>F&amp;B 대표 컷으로 교체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188720"/>
            <a:ext cx="368777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[클라이언트/브랜드명]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[프로젝트명]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2514600"/>
            <a:ext cx="368777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743200"/>
            <a:ext cx="368777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SCOPE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기획 · 촬영 · 리터칭 (해당 항목만 남기기)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800" b="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/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SUMMARY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[한 줄 요약 — 무엇을 해결했는지. 예: 신제품 론칭 상세페이지 전체 비주얼]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SELECTED WORKS — CASE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6858000" cy="4937760"/>
          </a:xfrm>
          <a:prstGeom prst="rect">
            <a:avLst/>
          </a:prstGeom>
          <a:solidFill>
            <a:srgbClr val="F0F0EE"/>
          </a:solidFill>
          <a:ln w="9525">
            <a:solidFill>
              <a:srgbClr val="E5E5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6858000" cy="4937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spc="2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IMAGE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A3A3A3"/>
                </a:solidFill>
                <a:latin typeface="Noto Sans KR"/>
                <a:ea typeface="Noto Sans KR"/>
                <a:cs typeface="Noto Sans KR"/>
              </a:rPr>
              <a:t>라이프스타일 · 인물 대표 컷으로 교체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188720"/>
            <a:ext cx="368777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[클라이언트/브랜드명]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[프로젝트명]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2514600"/>
            <a:ext cx="368777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743200"/>
            <a:ext cx="368777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SCOPE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기획 · 촬영 · 리터칭 (해당 항목만 남기기)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800" b="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/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SUMMARY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[한 줄 요약 — 무엇을 해결했는지. 예: 신제품 론칭 상세페이지 전체 비주얼]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WHY HOLYMOLLY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홀리몰리와 찍으면 다른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10911535" cy="177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4815687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0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01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디렉션이 있는 촬영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찍기 전에 설계합니다. 레퍼런스 정리부터 무드보드, 세팅 계획까지 — 촬영은 기획의 마지막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5887" y="2423160"/>
            <a:ext cx="4815687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0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02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질감에 강한 스튜디오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뷰티의 제형, F&amp;B의 시즐, 패브릭의 결. 클로즈업에서 무너지지 않는 디테일을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06240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80560"/>
            <a:ext cx="4815687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0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03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현장에서 한 컷 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촬영이 잘 풀리는 날, 계획에 없던 세팅을 그 자리에서 추가하는 팀입니다. 같은 예산에서 얻어가는 컷이 늘어납니다.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206240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887" y="4480560"/>
            <a:ext cx="4815687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0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04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원본부터 다른 퀄리티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0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톤 정리만 거친 원본을 그대로 보여드릴 수 있는 촬영을 지향합니다. 보정은 원본을 살리는 마지막 손질입니다.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0132" y="2148840"/>
            <a:ext cx="11430" cy="411480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8A8A8A"/>
                </a:solidFill>
                <a:latin typeface="Jost"/>
                <a:ea typeface="Noto Sans KR"/>
                <a:cs typeface="Noto Sans KR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KR"/>
                <a:ea typeface="Noto Sans KR"/>
                <a:cs typeface="Noto Sans KR"/>
              </a:rPr>
              <a:t>상담부터 전달까지, 네 걸음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11535" cy="11430"/>
          </a:xfrm>
          <a:prstGeom prst="rect">
            <a:avLst/>
          </a:prstGeom>
          <a:solidFill>
            <a:srgbClr val="2E2E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222496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0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01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1">
                <a:solidFill>
                  <a:srgbClr val="FAFAF8"/>
                </a:solidFill>
                <a:latin typeface="Noto Sans KR"/>
                <a:ea typeface="Noto Sans KR"/>
                <a:cs typeface="Noto Sans KR"/>
              </a:rPr>
              <a:t>상담 · 기획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000" b="0">
                <a:solidFill>
                  <a:srgbClr val="909090"/>
                </a:solidFill>
                <a:latin typeface="Noto Sans KR"/>
                <a:ea typeface="Noto Sans KR"/>
                <a:cs typeface="Noto Sans KR"/>
              </a:rPr>
              <a:t>문의 주시면 24시간 안에 답장드립니다. 목적과 무드를 듣고, 레퍼런스와 세팅 방향, 견적을 제안합니다.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362248" y="2194560"/>
            <a:ext cx="11430" cy="3291840"/>
          </a:xfrm>
          <a:prstGeom prst="rect">
            <a:avLst/>
          </a:prstGeom>
          <a:solidFill>
            <a:srgbClr val="2E2E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2283" y="2606040"/>
            <a:ext cx="222496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0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02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1">
                <a:solidFill>
                  <a:srgbClr val="FAFAF8"/>
                </a:solidFill>
                <a:latin typeface="Noto Sans KR"/>
                <a:ea typeface="Noto Sans KR"/>
                <a:cs typeface="Noto Sans KR"/>
              </a:rPr>
              <a:t>촬영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000" b="0">
                <a:solidFill>
                  <a:srgbClr val="909090"/>
                </a:solidFill>
                <a:latin typeface="Noto Sans KR"/>
                <a:ea typeface="Noto Sans KR"/>
                <a:cs typeface="Noto Sans KR"/>
              </a:rPr>
              <a:t>역삼 스튜디오 또는 로케이션에서. 현장에서 컷을 함께 확인하며, 좋은 장면이 보이면 그 자리에서 더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0132" y="2194560"/>
            <a:ext cx="11430" cy="3291840"/>
          </a:xfrm>
          <a:prstGeom prst="rect">
            <a:avLst/>
          </a:prstGeom>
          <a:solidFill>
            <a:srgbClr val="2E2E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2606040"/>
            <a:ext cx="222496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0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03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1">
                <a:solidFill>
                  <a:srgbClr val="FAFAF8"/>
                </a:solidFill>
                <a:latin typeface="Noto Sans KR"/>
                <a:ea typeface="Noto Sans KR"/>
                <a:cs typeface="Noto Sans KR"/>
              </a:rPr>
              <a:t>셀렉 · 리터칭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000" b="0">
                <a:solidFill>
                  <a:srgbClr val="909090"/>
                </a:solidFill>
                <a:latin typeface="Noto Sans KR"/>
                <a:ea typeface="Noto Sans KR"/>
                <a:cs typeface="Noto Sans KR"/>
              </a:rPr>
              <a:t>촬영 컷을 정리해 보내드리고, 고르신 컷을 정성껏 보정합니다. 피드백을 주고받으며 디테일을 다듬습니다.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8016" y="2194560"/>
            <a:ext cx="11430" cy="3291840"/>
          </a:xfrm>
          <a:prstGeom prst="rect">
            <a:avLst/>
          </a:prstGeom>
          <a:solidFill>
            <a:srgbClr val="2E2E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051" y="2606040"/>
            <a:ext cx="222496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0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04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1">
                <a:solidFill>
                  <a:srgbClr val="FAFAF8"/>
                </a:solidFill>
                <a:latin typeface="Noto Sans KR"/>
                <a:ea typeface="Noto Sans KR"/>
                <a:cs typeface="Noto Sans KR"/>
              </a:rPr>
              <a:t>전달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000" b="0">
                <a:solidFill>
                  <a:srgbClr val="909090"/>
                </a:solidFill>
                <a:latin typeface="Noto Sans KR"/>
                <a:ea typeface="Noto Sans KR"/>
                <a:cs typeface="Noto Sans KR"/>
              </a:rPr>
              <a:t>합의된 일정에 고해상도 완성본을 전달합니다. 사용하실 채널에 맞춘 포맷 정리도 함께합니다.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역삼에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5029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1">
                <a:solidFill>
                  <a:srgbClr val="0A0A0A"/>
                </a:solidFill>
                <a:latin typeface="Noto Sans KR"/>
                <a:ea typeface="Noto Sans KR"/>
                <a:cs typeface="Noto Sans KR"/>
              </a:rPr>
              <a:t>서울 강남구 역삼동 783-2, B1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800" b="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/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1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제품 · 뷰티 · F&amp;B 촬영에 맞춘 세팅으로 운영하며, 컨셉에 따라 로케이션 촬영도 진행합니다.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150" b="0">
                <a:solidFill>
                  <a:srgbClr val="6F6F6F"/>
                </a:solidFill>
                <a:latin typeface="Noto Sans KR"/>
                <a:ea typeface="Noto Sans KR"/>
                <a:cs typeface="Noto Sans KR"/>
              </a:rPr>
              <a:t>방문 상담은 이메일 또는 문의 폼으로 일정을 잡아주세요.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051560"/>
            <a:ext cx="5029200" cy="4937760"/>
          </a:xfrm>
          <a:prstGeom prst="rect">
            <a:avLst/>
          </a:prstGeom>
          <a:solidFill>
            <a:srgbClr val="F0F0EE"/>
          </a:solidFill>
          <a:ln w="9525">
            <a:solidFill>
              <a:srgbClr val="E5E5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051560"/>
            <a:ext cx="5029200" cy="4937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spc="2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IMAGE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A3A3A3"/>
                </a:solidFill>
                <a:latin typeface="Noto Sans KR"/>
                <a:ea typeface="Noto Sans KR"/>
                <a:cs typeface="Noto Sans KR"/>
              </a:rPr>
              <a:t>스튜디오 공간 컷으로 교체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STUDIO. HOLYMOLLY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150">
                <a:solidFill>
                  <a:srgbClr val="A3A3A3"/>
                </a:solidFill>
                <a:latin typeface="Jost"/>
                <a:ea typeface="Noto Sans KR"/>
                <a:cs typeface="Noto Sans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28800"/>
            <a:ext cx="109115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0" spc="250">
                <a:solidFill>
                  <a:srgbClr val="0A0A0A"/>
                </a:solidFill>
                <a:latin typeface="Jost"/>
                <a:ea typeface="Noto Sans KR"/>
                <a:cs typeface="Noto Sans KR"/>
              </a:rPr>
              <a:t>START A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657600"/>
            <a:ext cx="10911535" cy="11430"/>
          </a:xfrm>
          <a:prstGeom prst="rect">
            <a:avLst/>
          </a:prstGeom>
          <a:solidFill>
            <a:srgbClr val="E5E5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327141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EMAIL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300" b="1">
                <a:solidFill>
                  <a:srgbClr val="0A0A0A"/>
                </a:solidFill>
                <a:latin typeface="Jost"/>
                <a:ea typeface="Noto Sans KR"/>
                <a:cs typeface="Noto Sans KR"/>
              </a:rPr>
              <a:t>studio.holymolly@gmail.com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7258" y="4023360"/>
            <a:ext cx="327141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INSTAGRAM · THREADS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300" b="1">
                <a:solidFill>
                  <a:srgbClr val="0A0A0A"/>
                </a:solidFill>
                <a:latin typeface="Jost"/>
                <a:ea typeface="Noto Sans KR"/>
                <a:cs typeface="Noto Sans KR"/>
              </a:rPr>
              <a:t>@studio_holymolly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14436" y="4023360"/>
            <a:ext cx="327141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900" b="0" spc="200">
                <a:solidFill>
                  <a:srgbClr val="6F6F6F"/>
                </a:solidFill>
                <a:latin typeface="Jost"/>
                <a:ea typeface="Noto Sans KR"/>
                <a:cs typeface="Noto Sans KR"/>
              </a:rPr>
              <a:t>PORTFOLIO</a:t>
            </a:r>
          </a:p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300" b="1">
                <a:solidFill>
                  <a:srgbClr val="0A0A0A"/>
                </a:solidFill>
                <a:latin typeface="Jost"/>
                <a:ea typeface="Noto Sans KR"/>
                <a:cs typeface="Noto Sans KR"/>
              </a:rPr>
              <a:t>studioholymolly.myportfolio.com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A3A3A3"/>
                </a:solidFill>
                <a:latin typeface="Noto Sans KR"/>
                <a:ea typeface="Noto Sans KR"/>
                <a:cs typeface="Noto Sans KR"/>
              </a:rPr>
              <a:t>스튜디오 홀리몰리 — 서울 강남구 역삼동 783-2, B1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