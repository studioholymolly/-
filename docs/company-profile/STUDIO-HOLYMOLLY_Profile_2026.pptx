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220">
                <a:solidFill>
                  <a:srgbClr val="6F6F6F"/>
                </a:solidFill>
                <a:latin typeface="Jost"/>
                <a:ea typeface="Noto Sans KR"/>
                <a:cs typeface="Noto Sans KR"/>
              </a:rPr>
              <a:t>STUDIO HOLYMOLLY — VISUAL DIRECTION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30591" y="3108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220">
                <a:solidFill>
                  <a:srgbClr val="6F6F6F"/>
                </a:solidFill>
                <a:latin typeface="Jost"/>
                <a:ea typeface="Noto Sans KR"/>
                <a:cs typeface="Noto Sans KR"/>
              </a:rPr>
              <a:t>COMPANY PROFILE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58368"/>
            <a:ext cx="10984687" cy="127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22529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3000" b="0" spc="150">
                <a:solidFill>
                  <a:srgbClr val="0A0A0A"/>
                </a:solidFill>
                <a:latin typeface="Jost"/>
                <a:ea typeface="Noto Sans KR"/>
                <a:cs typeface="Noto Sans KR"/>
              </a:rPr>
              <a:t>STUDIO.</a:t>
            </a:r>
          </a:p>
          <a:p>
            <a:pPr algn="l">
              <a:lnSpc>
                <a:spcPct val="98000"/>
              </a:lnSpc>
            </a:pPr>
            <a:r>
              <a:rPr sz="13000" b="0" spc="150">
                <a:solidFill>
                  <a:srgbClr val="0A0A0A"/>
                </a:solidFill>
                <a:latin typeface="Jost"/>
                <a:ea typeface="Noto Sans KR"/>
                <a:cs typeface="Noto Sans KR"/>
              </a:rPr>
              <a:t>HOLYMOLLY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5897880"/>
            <a:ext cx="10984687" cy="127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10819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브랜드가 보여지는 모든 장면을 만듭니다.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01791" y="61264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spc="15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SEOUL, YEOKSAM — STUDIOHOLYMOLLY.MYPORTFOLIO.COM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220">
                <a:solidFill>
                  <a:srgbClr val="8A8A8A"/>
                </a:solidFill>
                <a:latin typeface="Jost"/>
                <a:ea typeface="Noto Sans KR"/>
                <a:cs typeface="Noto Sans KR"/>
              </a:rPr>
              <a:t>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011680"/>
            <a:ext cx="11155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4400" b="1">
                <a:solidFill>
                  <a:srgbClr val="FAFAF8"/>
                </a:solidFill>
                <a:latin typeface="Noto Sans KR"/>
                <a:ea typeface="Noto Sans KR"/>
                <a:cs typeface="Noto Sans KR"/>
              </a:rPr>
              <a:t>컷 한 장을 찍는 일보다,</a:t>
            </a:r>
          </a:p>
          <a:p>
            <a:pPr algn="l">
              <a:lnSpc>
                <a:spcPct val="132000"/>
              </a:lnSpc>
            </a:pPr>
            <a:r>
              <a:rPr sz="4400" b="1">
                <a:solidFill>
                  <a:srgbClr val="FAFAF8"/>
                </a:solidFill>
                <a:latin typeface="Noto Sans KR"/>
                <a:ea typeface="Noto Sans KR"/>
                <a:cs typeface="Noto Sans KR"/>
              </a:rPr>
              <a:t>그 컷이 브랜드 안에서 어떻게</a:t>
            </a:r>
          </a:p>
          <a:p>
            <a:pPr algn="l">
              <a:lnSpc>
                <a:spcPct val="132000"/>
              </a:lnSpc>
            </a:pPr>
            <a:r>
              <a:rPr sz="4400" b="1">
                <a:solidFill>
                  <a:srgbClr val="FAFAF8"/>
                </a:solidFill>
                <a:latin typeface="Noto Sans KR"/>
                <a:ea typeface="Noto Sans KR"/>
                <a:cs typeface="Noto Sans KR"/>
              </a:rPr>
              <a:t>보일지를 먼저 생각합니다.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90911" y="63093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220">
                <a:solidFill>
                  <a:srgbClr val="8A8A8A"/>
                </a:solidFill>
                <a:latin typeface="Jost"/>
                <a:ea typeface="Noto Sans KR"/>
                <a:cs typeface="Noto Sans K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220">
                <a:solidFill>
                  <a:srgbClr val="6F6F6F"/>
                </a:solidFill>
                <a:latin typeface="Jost"/>
                <a:ea typeface="Noto Sans KR"/>
                <a:cs typeface="Noto Sans KR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90911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220">
                <a:solidFill>
                  <a:srgbClr val="6F6F6F"/>
                </a:solidFill>
                <a:latin typeface="Jost"/>
                <a:ea typeface="Noto Sans KR"/>
                <a:cs typeface="Noto Sans KR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58368"/>
            <a:ext cx="10984687" cy="127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325880"/>
            <a:ext cx="6583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400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서울 역삼,</a:t>
            </a:r>
          </a:p>
          <a:p>
            <a:pPr algn="l">
              <a:lnSpc>
                <a:spcPct val="128000"/>
              </a:lnSpc>
            </a:pPr>
            <a:r>
              <a:rPr sz="400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비주얼 디렉션 스튜디오.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481328"/>
            <a:ext cx="3952951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1200"/>
              </a:spcAft>
            </a:pPr>
            <a:r>
              <a:rPr sz="110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스튜디오 홀리몰리는 사진과 영상, 그리고 BX 디자인까지 — 하나의 무드로 이어지는 장면을 설계합니다.</a:t>
            </a:r>
          </a:p>
          <a:p>
            <a:pPr algn="l">
              <a:lnSpc>
                <a:spcPct val="160000"/>
              </a:lnSpc>
              <a:spcAft>
                <a:spcPts val="1200"/>
              </a:spcAft>
            </a:pPr>
            <a:r>
              <a:rPr sz="110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뷰티와 F&amp;B, 화면 속 질감이 곧 구매가 되는 카테고리에서 출발해 제품 · 라이프스타일 · 패션 · 인물로 영역을 넓혀왔습니다. 그렇게 찍은 컷이 상세페이지가 되고, 캠페인이 되고, 브랜드의 얼굴이 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4892040"/>
            <a:ext cx="10984687" cy="1651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5166360"/>
            <a:ext cx="224325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</a:pPr>
            <a:r>
              <a:rPr sz="850" b="0" spc="220">
                <a:solidFill>
                  <a:srgbClr val="6F6F6F"/>
                </a:solidFill>
                <a:latin typeface="Jost"/>
                <a:ea typeface="Noto Sans KR"/>
                <a:cs typeface="Noto Sans KR"/>
              </a:rPr>
              <a:t>FIELD</a:t>
            </a:r>
          </a:p>
          <a:p>
            <a:pPr algn="l">
              <a:lnSpc>
                <a:spcPct val="175000"/>
              </a:lnSpc>
            </a:pPr>
            <a:r>
              <a:rPr sz="1300" b="1">
                <a:solidFill>
                  <a:srgbClr val="0A0A0A"/>
                </a:solidFill>
                <a:latin typeface="Jost"/>
                <a:ea typeface="Noto Sans KR"/>
                <a:cs typeface="Noto Sans KR"/>
              </a:rPr>
              <a:t>Photo · Film · Branding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3960" y="4892040"/>
            <a:ext cx="11430" cy="13716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3995" y="5166360"/>
            <a:ext cx="224325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</a:pPr>
            <a:r>
              <a:rPr sz="850" b="0" spc="220">
                <a:solidFill>
                  <a:srgbClr val="6F6F6F"/>
                </a:solidFill>
                <a:latin typeface="Jost"/>
                <a:ea typeface="Noto Sans KR"/>
                <a:cs typeface="Noto Sans KR"/>
              </a:rPr>
              <a:t>CATEGORY</a:t>
            </a:r>
          </a:p>
          <a:p>
            <a:pPr algn="l">
              <a:lnSpc>
                <a:spcPct val="175000"/>
              </a:lnSpc>
            </a:pPr>
            <a:r>
              <a:rPr sz="1300" b="1">
                <a:solidFill>
                  <a:srgbClr val="0A0A0A"/>
                </a:solidFill>
                <a:latin typeface="Jost"/>
                <a:ea typeface="Noto Sans KR"/>
                <a:cs typeface="Noto Sans KR"/>
              </a:rPr>
              <a:t>Beauty · F&amp;B · Lifestyle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0132" y="4892040"/>
            <a:ext cx="11430" cy="13716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5166360"/>
            <a:ext cx="224325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</a:pPr>
            <a:r>
              <a:rPr sz="850" b="0" spc="220">
                <a:solidFill>
                  <a:srgbClr val="6F6F6F"/>
                </a:solidFill>
                <a:latin typeface="Jost"/>
                <a:ea typeface="Noto Sans KR"/>
                <a:cs typeface="Noto Sans KR"/>
              </a:rPr>
              <a:t>LOCATION</a:t>
            </a:r>
          </a:p>
          <a:p>
            <a:pPr algn="l">
              <a:lnSpc>
                <a:spcPct val="175000"/>
              </a:lnSpc>
            </a:pPr>
            <a:r>
              <a:rPr sz="130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역삼동 783-2, B1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36304" y="4892040"/>
            <a:ext cx="11430" cy="13716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339" y="5166360"/>
            <a:ext cx="224325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</a:pPr>
            <a:r>
              <a:rPr sz="850" b="0" spc="220">
                <a:solidFill>
                  <a:srgbClr val="6F6F6F"/>
                </a:solidFill>
                <a:latin typeface="Jost"/>
                <a:ea typeface="Noto Sans KR"/>
                <a:cs typeface="Noto Sans KR"/>
              </a:rPr>
              <a:t>CONTACT</a:t>
            </a:r>
          </a:p>
          <a:p>
            <a:pPr algn="l">
              <a:lnSpc>
                <a:spcPct val="175000"/>
              </a:lnSpc>
            </a:pPr>
            <a:r>
              <a:rPr sz="1000" b="1">
                <a:solidFill>
                  <a:srgbClr val="0A0A0A"/>
                </a:solidFill>
                <a:latin typeface="Jost"/>
                <a:ea typeface="Noto Sans KR"/>
                <a:cs typeface="Noto Sans KR"/>
              </a:rPr>
              <a:t>studio.holymolly@gmail.com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6263640"/>
            <a:ext cx="10984687" cy="127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220">
                <a:solidFill>
                  <a:srgbClr val="6F6F6F"/>
                </a:solidFill>
                <a:latin typeface="Jost"/>
                <a:ea typeface="Noto Sans KR"/>
                <a:cs typeface="Noto Sans KR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90911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220">
                <a:solidFill>
                  <a:srgbClr val="6F6F6F"/>
                </a:solidFill>
                <a:latin typeface="Jost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58368"/>
            <a:ext cx="10984687" cy="127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399032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spc="10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0824" y="1362456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뷰티 &amp; 제품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453896"/>
            <a:ext cx="468447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제형과 컬러, 형태와 소재를 정교하게. 커머스 컷부터 캠페인까지, 제품이 팔리게 하는 컷.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2112264"/>
            <a:ext cx="10984687" cy="127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2368296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spc="10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233172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F&amp;B &amp; 라이프스타일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423160"/>
            <a:ext cx="468447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시즐과 온도, 쓰는 장면과 먹는 순간. 제품이 놓일 실제 삶의 장면을 만듭니다.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3081528"/>
            <a:ext cx="10984687" cy="127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333756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spc="10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0824" y="3300984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패션 &amp; 인물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392424"/>
            <a:ext cx="468447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시즌 룩북과 커머스 화보, 브랜드를 이끄는 사람들. 브랜드의 결을 인물로 옮깁니다.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" y="4050792"/>
            <a:ext cx="10984687" cy="127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4306824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spc="10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0824" y="427024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영상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361688"/>
            <a:ext cx="468447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브랜드 필름, 커머스 영상, 소셜 콘텐츠. 같은 무드를 무빙으로 확장합니다.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" y="5020056"/>
            <a:ext cx="10984687" cy="127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5276088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spc="10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0824" y="5239512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BX 디자인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5330952"/>
            <a:ext cx="468447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비주얼 아이덴티티부터 콘텐츠 시스템까지. 장면이 브랜드가 되도록.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" y="5989320"/>
            <a:ext cx="10984687" cy="1651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6190488"/>
            <a:ext cx="10984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사진 · 영상 · 디자인을 한 팀이 진행하면, 채널 전체가 하나의 무드로 이어집니다.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220">
                <a:solidFill>
                  <a:srgbClr val="8A8A8A"/>
                </a:solidFill>
                <a:latin typeface="Jost"/>
                <a:ea typeface="Noto Sans KR"/>
                <a:cs typeface="Noto Sans KR"/>
              </a:rPr>
              <a:t>SELECTED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23444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0" b="0" spc="150">
                <a:solidFill>
                  <a:srgbClr val="FAFAF8"/>
                </a:solidFill>
                <a:latin typeface="Jost"/>
                <a:ea typeface="Noto Sans KR"/>
                <a:cs typeface="Noto Sans KR"/>
              </a:rPr>
              <a:t>WORKS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41605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A9A"/>
                </a:solidFill>
                <a:latin typeface="Noto Sans KR"/>
                <a:ea typeface="Noto Sans KR"/>
                <a:cs typeface="Noto Sans KR"/>
              </a:rPr>
              <a:t>말보다 컷이 빠릅니다. 작업물은 여기서 보세요.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5074920"/>
            <a:ext cx="10984687" cy="127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5349240"/>
            <a:ext cx="329580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850" b="0" spc="220">
                <a:solidFill>
                  <a:srgbClr val="8A8A8A"/>
                </a:solidFill>
                <a:latin typeface="Jost"/>
                <a:ea typeface="Noto Sans KR"/>
                <a:cs typeface="Noto Sans KR"/>
              </a:rPr>
              <a:t>PORTFOLIO</a:t>
            </a:r>
          </a:p>
          <a:p>
            <a:pPr algn="l">
              <a:lnSpc>
                <a:spcPct val="180000"/>
              </a:lnSpc>
            </a:pPr>
            <a:r>
              <a:rPr sz="1300" b="1">
                <a:solidFill>
                  <a:srgbClr val="FAFAF8"/>
                </a:solidFill>
                <a:latin typeface="Jost"/>
                <a:ea typeface="Noto Sans KR"/>
                <a:cs typeface="Noto Sans KR"/>
              </a:rPr>
              <a:t>studioholymolly.myportfolio.com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5066" y="5349240"/>
            <a:ext cx="329580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850" b="0" spc="220">
                <a:solidFill>
                  <a:srgbClr val="8A8A8A"/>
                </a:solidFill>
                <a:latin typeface="Jost"/>
                <a:ea typeface="Noto Sans KR"/>
                <a:cs typeface="Noto Sans KR"/>
              </a:rPr>
              <a:t>INSTAGRAM</a:t>
            </a:r>
          </a:p>
          <a:p>
            <a:pPr algn="l">
              <a:lnSpc>
                <a:spcPct val="180000"/>
              </a:lnSpc>
            </a:pPr>
            <a:r>
              <a:rPr sz="1300" b="1">
                <a:solidFill>
                  <a:srgbClr val="FAFAF8"/>
                </a:solidFill>
                <a:latin typeface="Jost"/>
                <a:ea typeface="Noto Sans KR"/>
                <a:cs typeface="Noto Sans KR"/>
              </a:rPr>
              <a:t>@studio_holymolly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6628" y="5349240"/>
            <a:ext cx="329580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850" b="0" spc="220">
                <a:solidFill>
                  <a:srgbClr val="8A8A8A"/>
                </a:solidFill>
                <a:latin typeface="Jost"/>
                <a:ea typeface="Noto Sans KR"/>
                <a:cs typeface="Noto Sans KR"/>
              </a:rPr>
              <a:t>THREADS</a:t>
            </a:r>
          </a:p>
          <a:p>
            <a:pPr algn="l">
              <a:lnSpc>
                <a:spcPct val="180000"/>
              </a:lnSpc>
            </a:pPr>
            <a:r>
              <a:rPr sz="1300" b="1">
                <a:solidFill>
                  <a:srgbClr val="FAFAF8"/>
                </a:solidFill>
                <a:latin typeface="Jost"/>
                <a:ea typeface="Noto Sans KR"/>
                <a:cs typeface="Noto Sans KR"/>
              </a:rPr>
              <a:t>@studio_holymolly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90911" y="63093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220">
                <a:solidFill>
                  <a:srgbClr val="8A8A8A"/>
                </a:solidFill>
                <a:latin typeface="Jost"/>
                <a:ea typeface="Noto Sans KR"/>
                <a:cs typeface="Noto Sans K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0"/>
          </a:xfrm>
          <a:prstGeom prst="rect">
            <a:avLst/>
          </a:prstGeom>
          <a:solidFill>
            <a:srgbClr val="EFE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1695" cy="594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spc="28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IMAGE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A3A3A3"/>
                </a:solidFill>
                <a:latin typeface="Noto Sans KR"/>
                <a:ea typeface="Noto Sans KR"/>
                <a:cs typeface="Noto Sans KR"/>
              </a:rPr>
              <a:t>뷰티 대표 컷으로 교체 (풀블리드)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0"/>
            <a:ext cx="12191695" cy="1651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12648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[클라이언트/브랜드명] — [프로젝트명]</a:t>
            </a:r>
          </a:p>
          <a:p>
            <a:pPr algn="l">
              <a:lnSpc>
                <a:spcPct val="150000"/>
              </a:lnSpc>
            </a:pPr>
            <a:r>
              <a:rPr sz="850" b="0" spc="8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SCOPE — 기획 · 촬영 · 리터칭 (해당 항목만)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163056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[한 줄 요약 — 무엇을 해결했는지]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2271" y="61630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spc="15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CASE 01 —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0"/>
          </a:xfrm>
          <a:prstGeom prst="rect">
            <a:avLst/>
          </a:prstGeom>
          <a:solidFill>
            <a:srgbClr val="EFE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1695" cy="594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spc="28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IMAGE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A3A3A3"/>
                </a:solidFill>
                <a:latin typeface="Noto Sans KR"/>
                <a:ea typeface="Noto Sans KR"/>
                <a:cs typeface="Noto Sans KR"/>
              </a:rPr>
              <a:t>제품 / 커머스 대표 컷으로 교체 (풀블리드)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0"/>
            <a:ext cx="12191695" cy="1651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12648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[클라이언트/브랜드명] — [프로젝트명]</a:t>
            </a:r>
          </a:p>
          <a:p>
            <a:pPr algn="l">
              <a:lnSpc>
                <a:spcPct val="150000"/>
              </a:lnSpc>
            </a:pPr>
            <a:r>
              <a:rPr sz="850" b="0" spc="8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SCOPE — 기획 · 촬영 · 리터칭 (해당 항목만)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163056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[한 줄 요약 — 무엇을 해결했는지]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2271" y="61630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spc="15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CASE 02 —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0"/>
          </a:xfrm>
          <a:prstGeom prst="rect">
            <a:avLst/>
          </a:prstGeom>
          <a:solidFill>
            <a:srgbClr val="EFE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1695" cy="594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spc="28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IMAGE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A3A3A3"/>
                </a:solidFill>
                <a:latin typeface="Noto Sans KR"/>
                <a:ea typeface="Noto Sans KR"/>
                <a:cs typeface="Noto Sans KR"/>
              </a:rPr>
              <a:t>F&amp;B 대표 컷으로 교체 (풀블리드)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0"/>
            <a:ext cx="12191695" cy="1651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12648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[클라이언트/브랜드명] — [프로젝트명]</a:t>
            </a:r>
          </a:p>
          <a:p>
            <a:pPr algn="l">
              <a:lnSpc>
                <a:spcPct val="150000"/>
              </a:lnSpc>
            </a:pPr>
            <a:r>
              <a:rPr sz="850" b="0" spc="8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SCOPE — 기획 · 촬영 · 리터칭 (해당 항목만)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163056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[한 줄 요약 — 무엇을 해결했는지]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2271" y="61630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spc="15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CASE 03 —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0"/>
          </a:xfrm>
          <a:prstGeom prst="rect">
            <a:avLst/>
          </a:prstGeom>
          <a:solidFill>
            <a:srgbClr val="EFE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1695" cy="5943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spc="28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IMAGE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A3A3A3"/>
                </a:solidFill>
                <a:latin typeface="Noto Sans KR"/>
                <a:ea typeface="Noto Sans KR"/>
                <a:cs typeface="Noto Sans KR"/>
              </a:rPr>
              <a:t>라이프스타일 · 인물 대표 컷으로 교체 (풀블리드)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0"/>
            <a:ext cx="12191695" cy="1651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12648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[클라이언트/브랜드명] — [프로젝트명]</a:t>
            </a:r>
          </a:p>
          <a:p>
            <a:pPr algn="l">
              <a:lnSpc>
                <a:spcPct val="150000"/>
              </a:lnSpc>
            </a:pPr>
            <a:r>
              <a:rPr sz="850" b="0" spc="8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SCOPE — 기획 · 촬영 · 리터칭 (해당 항목만)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163056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[한 줄 요약 — 무엇을 해결했는지]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2271" y="61630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spc="15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CASE 04 —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220">
                <a:solidFill>
                  <a:srgbClr val="6F6F6F"/>
                </a:solidFill>
                <a:latin typeface="Jost"/>
                <a:ea typeface="Noto Sans KR"/>
                <a:cs typeface="Noto Sans KR"/>
              </a:rPr>
              <a:t>WHY HOLYMOLLY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90911" y="310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220">
                <a:solidFill>
                  <a:srgbClr val="6F6F6F"/>
                </a:solidFill>
                <a:latin typeface="Jost"/>
                <a:ea typeface="Noto Sans KR"/>
                <a:cs typeface="Noto Sans KR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658368"/>
            <a:ext cx="10984687" cy="127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2344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홀리몰리와 찍으면 다른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2514600"/>
            <a:ext cx="10984687" cy="1651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" y="4343400"/>
            <a:ext cx="10984687" cy="127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" y="6172200"/>
            <a:ext cx="10984687" cy="127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0132" y="2514600"/>
            <a:ext cx="11430" cy="36576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734056"/>
            <a:ext cx="1463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 spc="5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7944" y="2807208"/>
            <a:ext cx="361782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5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디렉션이 있는 촬영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00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찍기 전에 설계합니다. 레퍼런스부터 무드보드, 세팅 계획까지 — 촬영은 기획의 마지막 단계입니다.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887" y="2734056"/>
            <a:ext cx="1463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 spc="5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0327" y="2807208"/>
            <a:ext cx="361782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5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질감에 강한 스튜디오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00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뷰티의 제형, F&amp;B의 시즐, 패브릭의 결. 클로즈업에서 무너지지 않는 디테일.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4562856"/>
            <a:ext cx="1463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 spc="5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7944" y="4636008"/>
            <a:ext cx="361782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5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현장에서 한 컷 더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00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계획에 없던 세팅을 그 자리에서 추가하는 팀. 같은 예산에서 얻는 컷이 늘어납니다.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4562856"/>
            <a:ext cx="1463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 spc="5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327" y="4636008"/>
            <a:ext cx="361782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5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원본부터 다른 퀄리티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00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톤 정리만 거친 원본을 그대로 보여드릴 수 있는 촬영. 보정은 마지막 손질입니다.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220">
                <a:solidFill>
                  <a:srgbClr val="8A8A8A"/>
                </a:solidFill>
                <a:latin typeface="Jost"/>
                <a:ea typeface="Noto Sans KR"/>
                <a:cs typeface="Noto Sans KR"/>
              </a:rPr>
              <a:t>HOW WE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658368"/>
            <a:ext cx="10984687" cy="127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2344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AFAF8"/>
                </a:solidFill>
                <a:latin typeface="Noto Sans KR"/>
                <a:ea typeface="Noto Sans KR"/>
                <a:cs typeface="Noto Sans KR"/>
              </a:rPr>
              <a:t>상담부터 전달까지, 네 걸음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880360"/>
            <a:ext cx="21975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spc="50">
                <a:solidFill>
                  <a:srgbClr val="4A4A4A"/>
                </a:solidFill>
                <a:latin typeface="Jost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3977640"/>
            <a:ext cx="219753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500" b="1">
                <a:solidFill>
                  <a:srgbClr val="FAFAF8"/>
                </a:solidFill>
                <a:latin typeface="Noto Sans KR"/>
                <a:ea typeface="Noto Sans KR"/>
                <a:cs typeface="Noto Sans KR"/>
              </a:rPr>
              <a:t>상담 · 기획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950" b="0">
                <a:solidFill>
                  <a:srgbClr val="9A9A9A"/>
                </a:solidFill>
                <a:latin typeface="Noto Sans KR"/>
                <a:ea typeface="Noto Sans KR"/>
                <a:cs typeface="Noto Sans KR"/>
              </a:rPr>
              <a:t>24시간 안에 답장. 목적과 무드를 듣고 레퍼런스 · 세팅 · 견적을 제안합니다.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3960" y="2743200"/>
            <a:ext cx="11430" cy="301752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2283" y="2880360"/>
            <a:ext cx="21975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spc="50">
                <a:solidFill>
                  <a:srgbClr val="4A4A4A"/>
                </a:solidFill>
                <a:latin typeface="Jost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2283" y="3977640"/>
            <a:ext cx="219753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500" b="1">
                <a:solidFill>
                  <a:srgbClr val="FAFAF8"/>
                </a:solidFill>
                <a:latin typeface="Noto Sans KR"/>
                <a:ea typeface="Noto Sans KR"/>
                <a:cs typeface="Noto Sans KR"/>
              </a:rPr>
              <a:t>촬영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950" b="0">
                <a:solidFill>
                  <a:srgbClr val="9A9A9A"/>
                </a:solidFill>
                <a:latin typeface="Noto Sans KR"/>
                <a:ea typeface="Noto Sans KR"/>
                <a:cs typeface="Noto Sans KR"/>
              </a:rPr>
              <a:t>역삼 스튜디오 또는 로케이션. 현장에서 컷을 함께 확인하며 진행합니다.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0132" y="2743200"/>
            <a:ext cx="11430" cy="301752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8455" y="2880360"/>
            <a:ext cx="21975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spc="50">
                <a:solidFill>
                  <a:srgbClr val="4A4A4A"/>
                </a:solidFill>
                <a:latin typeface="Jost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455" y="3977640"/>
            <a:ext cx="219753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500" b="1">
                <a:solidFill>
                  <a:srgbClr val="FAFAF8"/>
                </a:solidFill>
                <a:latin typeface="Noto Sans KR"/>
                <a:ea typeface="Noto Sans KR"/>
                <a:cs typeface="Noto Sans KR"/>
              </a:rPr>
              <a:t>셀렉 · 리터칭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950" b="0">
                <a:solidFill>
                  <a:srgbClr val="9A9A9A"/>
                </a:solidFill>
                <a:latin typeface="Noto Sans KR"/>
                <a:ea typeface="Noto Sans KR"/>
                <a:cs typeface="Noto Sans KR"/>
              </a:rPr>
              <a:t>정리된 컷에서 고르시면, 피드백을 반영해 정성껏 보정합니다.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36304" y="2743200"/>
            <a:ext cx="11430" cy="301752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4627" y="2880360"/>
            <a:ext cx="21975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spc="50">
                <a:solidFill>
                  <a:srgbClr val="4A4A4A"/>
                </a:solidFill>
                <a:latin typeface="Jost"/>
                <a:ea typeface="Noto Sans KR"/>
                <a:cs typeface="Noto Sans KR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4627" y="3977640"/>
            <a:ext cx="219753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500" b="1">
                <a:solidFill>
                  <a:srgbClr val="FAFAF8"/>
                </a:solidFill>
                <a:latin typeface="Noto Sans KR"/>
                <a:ea typeface="Noto Sans KR"/>
                <a:cs typeface="Noto Sans KR"/>
              </a:rPr>
              <a:t>전달</a:t>
            </a: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950" b="0">
                <a:solidFill>
                  <a:srgbClr val="9A9A9A"/>
                </a:solidFill>
                <a:latin typeface="Noto Sans KR"/>
                <a:ea typeface="Noto Sans KR"/>
                <a:cs typeface="Noto Sans KR"/>
              </a:rPr>
              <a:t>고해상도 완성본을 일정에 맞춰. 채널별 포맷 정리까지 함께.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" y="2743200"/>
            <a:ext cx="10984687" cy="127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90911" y="63093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220">
                <a:solidFill>
                  <a:srgbClr val="8A8A8A"/>
                </a:solidFill>
                <a:latin typeface="Jost"/>
                <a:ea typeface="Noto Sans KR"/>
                <a:cs typeface="Noto Sans K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0" y="0"/>
            <a:ext cx="5608015" cy="6858000"/>
          </a:xfrm>
          <a:prstGeom prst="rect">
            <a:avLst/>
          </a:prstGeom>
          <a:solidFill>
            <a:srgbClr val="EFE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0" y="0"/>
            <a:ext cx="5608015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spc="280">
                <a:solidFill>
                  <a:srgbClr val="A3A3A3"/>
                </a:solidFill>
                <a:latin typeface="Jost"/>
                <a:ea typeface="Noto Sans KR"/>
                <a:cs typeface="Noto Sans KR"/>
              </a:rPr>
              <a:t>IMAGE</a:t>
            </a:r>
          </a:p>
          <a:p>
            <a:pPr algn="ctr">
              <a:spcAft>
                <a:spcPts val="400"/>
              </a:spcAft>
            </a:pPr>
            <a:r>
              <a:rPr sz="950" b="0">
                <a:solidFill>
                  <a:srgbClr val="A3A3A3"/>
                </a:solidFill>
                <a:latin typeface="Noto Sans KR"/>
                <a:ea typeface="Noto Sans KR"/>
                <a:cs typeface="Noto Sans KR"/>
              </a:rPr>
              <a:t>스튜디오 공간 컷으로 교체
(풀블리드)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10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220">
                <a:solidFill>
                  <a:srgbClr val="6F6F6F"/>
                </a:solidFill>
                <a:latin typeface="Jost"/>
                <a:ea typeface="Noto Sans KR"/>
                <a:cs typeface="Noto Sans KR"/>
              </a:rPr>
              <a:t>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658368"/>
            <a:ext cx="5577840" cy="12700"/>
          </a:xfrm>
          <a:prstGeom prst="rect">
            <a:avLst/>
          </a:prstGeom>
          <a:solidFill>
            <a:srgbClr val="E5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5669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800" b="0" spc="150">
                <a:solidFill>
                  <a:srgbClr val="0A0A0A"/>
                </a:solidFill>
                <a:latin typeface="Jost"/>
                <a:ea typeface="Noto Sans KR"/>
                <a:cs typeface="Noto Sans KR"/>
              </a:rPr>
              <a:t>SEOUL,</a:t>
            </a:r>
          </a:p>
          <a:p>
            <a:pPr algn="l">
              <a:lnSpc>
                <a:spcPct val="110000"/>
              </a:lnSpc>
            </a:pPr>
            <a:r>
              <a:rPr sz="5800" b="0" spc="150">
                <a:solidFill>
                  <a:srgbClr val="0A0A0A"/>
                </a:solidFill>
                <a:latin typeface="Jost"/>
                <a:ea typeface="Noto Sans KR"/>
                <a:cs typeface="Noto Sans KR"/>
              </a:rPr>
              <a:t>YEOKSAM.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3794760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0A0A"/>
                </a:solidFill>
                <a:latin typeface="Noto Sans KR"/>
                <a:ea typeface="Noto Sans KR"/>
                <a:cs typeface="Noto Sans KR"/>
              </a:rPr>
              <a:t>서울 강남구 역삼동 783-2, B1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4434840"/>
            <a:ext cx="5394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05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제품 · 뷰티 · F&amp;B 촬영에 맞춘 세팅으로 운영하며, 컨셉에 따라 로케이션 촬영도 진행합니다.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050" b="0">
                <a:solidFill>
                  <a:srgbClr val="6F6F6F"/>
                </a:solidFill>
                <a:latin typeface="Noto Sans KR"/>
                <a:ea typeface="Noto Sans KR"/>
                <a:cs typeface="Noto Sans KR"/>
              </a:rPr>
              <a:t>방문 상담은 이메일 또는 문의 폼으로 일정을 잡아주세요.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3093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220">
                <a:solidFill>
                  <a:srgbClr val="6F6F6F"/>
                </a:solidFill>
                <a:latin typeface="Jost"/>
                <a:ea typeface="Noto Sans KR"/>
                <a:cs typeface="Noto Sans K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220">
                <a:solidFill>
                  <a:srgbClr val="8A8A8A"/>
                </a:solidFill>
                <a:latin typeface="Jost"/>
                <a:ea typeface="Noto Sans KR"/>
                <a:cs typeface="Noto Sans KR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2344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0" b="0" spc="150">
                <a:solidFill>
                  <a:srgbClr val="FAFAF8"/>
                </a:solidFill>
                <a:latin typeface="Jost"/>
                <a:ea typeface="Noto Sans KR"/>
                <a:cs typeface="Noto Sans KR"/>
              </a:rPr>
              <a:t>START</a:t>
            </a:r>
          </a:p>
          <a:p>
            <a:pPr algn="l">
              <a:lnSpc>
                <a:spcPct val="102000"/>
              </a:lnSpc>
            </a:pPr>
            <a:r>
              <a:rPr sz="12000" b="0" spc="150">
                <a:solidFill>
                  <a:srgbClr val="FAFAF8"/>
                </a:solidFill>
                <a:latin typeface="Jost"/>
                <a:ea typeface="Noto Sans KR"/>
                <a:cs typeface="Noto Sans KR"/>
              </a:rPr>
              <a:t>A PROJECT 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5394960"/>
            <a:ext cx="10984687" cy="12700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5650992"/>
            <a:ext cx="242613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850" b="0" spc="200">
                <a:solidFill>
                  <a:srgbClr val="8A8A8A"/>
                </a:solidFill>
                <a:latin typeface="Jost"/>
                <a:ea typeface="Noto Sans KR"/>
                <a:cs typeface="Noto Sans KR"/>
              </a:rPr>
              <a:t>EMAIL</a:t>
            </a:r>
          </a:p>
          <a:p>
            <a:pPr algn="l">
              <a:lnSpc>
                <a:spcPct val="180000"/>
              </a:lnSpc>
            </a:pPr>
            <a:r>
              <a:rPr sz="1050" b="1">
                <a:solidFill>
                  <a:srgbClr val="FAFAF8"/>
                </a:solidFill>
                <a:latin typeface="Jost"/>
                <a:ea typeface="Noto Sans KR"/>
                <a:cs typeface="Noto Sans KR"/>
              </a:rPr>
              <a:t>studio.holymolly@gmail.com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9675" y="5650992"/>
            <a:ext cx="242613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850" b="0" spc="200">
                <a:solidFill>
                  <a:srgbClr val="8A8A8A"/>
                </a:solidFill>
                <a:latin typeface="Jost"/>
                <a:ea typeface="Noto Sans KR"/>
                <a:cs typeface="Noto Sans KR"/>
              </a:rPr>
              <a:t>INSTAGRAM · THREADS</a:t>
            </a:r>
          </a:p>
          <a:p>
            <a:pPr algn="l">
              <a:lnSpc>
                <a:spcPct val="180000"/>
              </a:lnSpc>
            </a:pPr>
            <a:r>
              <a:rPr sz="1150" b="1">
                <a:solidFill>
                  <a:srgbClr val="FAFAF8"/>
                </a:solidFill>
                <a:latin typeface="Jost"/>
                <a:ea typeface="Noto Sans KR"/>
                <a:cs typeface="Noto Sans KR"/>
              </a:rPr>
              <a:t>@studio_holymolly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5650992"/>
            <a:ext cx="242613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850" b="0" spc="200">
                <a:solidFill>
                  <a:srgbClr val="8A8A8A"/>
                </a:solidFill>
                <a:latin typeface="Jost"/>
                <a:ea typeface="Noto Sans KR"/>
                <a:cs typeface="Noto Sans KR"/>
              </a:rPr>
              <a:t>PORTFOLIO</a:t>
            </a:r>
          </a:p>
          <a:p>
            <a:pPr algn="l">
              <a:lnSpc>
                <a:spcPct val="180000"/>
              </a:lnSpc>
            </a:pPr>
            <a:r>
              <a:rPr sz="950" b="1">
                <a:solidFill>
                  <a:srgbClr val="FAFAF8"/>
                </a:solidFill>
                <a:latin typeface="Jost"/>
                <a:ea typeface="Noto Sans KR"/>
                <a:cs typeface="Noto Sans KR"/>
              </a:rPr>
              <a:t>studioholymolly.myportfolio.com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019" y="5650992"/>
            <a:ext cx="242613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850" b="0" spc="200">
                <a:solidFill>
                  <a:srgbClr val="8A8A8A"/>
                </a:solidFill>
                <a:latin typeface="Jost"/>
                <a:ea typeface="Noto Sans KR"/>
                <a:cs typeface="Noto Sans KR"/>
              </a:rPr>
              <a:t>ADDRESS</a:t>
            </a:r>
          </a:p>
          <a:p>
            <a:pPr algn="l">
              <a:lnSpc>
                <a:spcPct val="180000"/>
              </a:lnSpc>
            </a:pPr>
            <a:r>
              <a:rPr sz="1150" b="1">
                <a:solidFill>
                  <a:srgbClr val="FAFAF8"/>
                </a:solidFill>
                <a:latin typeface="Noto Sans KR"/>
                <a:ea typeface="Noto Sans KR"/>
                <a:cs typeface="Noto Sans KR"/>
              </a:rPr>
              <a:t>역삼동 783-2, B1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880360"/>
            <a:ext cx="12191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spc="350">
                <a:solidFill>
                  <a:srgbClr val="0A0A0A"/>
                </a:solidFill>
                <a:latin typeface="Jost"/>
                <a:ea typeface="Noto Sans KR"/>
                <a:cs typeface="Noto Sans KR"/>
              </a:rPr>
              <a:t>STUDIO. HOLYMOLLY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033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100">
                <a:solidFill>
                  <a:srgbClr val="A3A3A3"/>
                </a:solidFill>
                <a:latin typeface="Noto Sans KR"/>
                <a:ea typeface="Noto Sans KR"/>
                <a:cs typeface="Noto Sans KR"/>
              </a:rPr>
              <a:t>© 2026 — 서울 강남구 역삼동 783-2, B1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